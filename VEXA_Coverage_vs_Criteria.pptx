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age" id="{330819b9-0375-3f2c-5126-edc5840c430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of 18 course criteria are fully met: the agent system, frameworks, protocols, architectures, guardrails and observability are built and tested (636 automated tests pass). Partial: prompting variants and memory exist but are not yet evaluated; the real-model evidence is 14 graded runs on one task, below the 40-run requirement; the benchmark has 10 of 50 tasks. Not met: RAG and per-role model selection. Next: fix verifier reliability, then run 10 tasks x 4 architectures x 3 repeats.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Coverage till now: 11 criteria met, 5 partial, 2 not met</a:t>
            </a:r>
            <a:endParaRPr lang="en-US" sz="3000" dirty="0"/>
          </a:p>
        </p:txBody>
      </p:sp>
      <p:sp>
        <p:nvSpPr>
          <p:cNvPr id="3" name="stat-Met"/>
          <p:cNvSpPr/>
          <p:nvPr/>
        </p:nvSpPr>
        <p:spPr>
          <a:xfrm>
            <a:off x="45720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4" name="stat-Met-n"/>
          <p:cNvSpPr txBox="1"/>
          <p:nvPr/>
        </p:nvSpPr>
        <p:spPr>
          <a:xfrm>
            <a:off x="457200" y="13075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3F"/>
                </a:solidFill>
              </a:rPr>
              <a:t>11</a:t>
            </a:r>
            <a:endParaRPr lang="en-US" sz="4000" dirty="0"/>
          </a:p>
        </p:txBody>
      </p:sp>
      <p:sp>
        <p:nvSpPr>
          <p:cNvPr id="5" name="stat-Met-label"/>
          <p:cNvSpPr txBox="1"/>
          <p:nvPr/>
        </p:nvSpPr>
        <p:spPr>
          <a:xfrm>
            <a:off x="45720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6B3F"/>
                </a:solidFill>
              </a:rPr>
              <a:t>Met</a:t>
            </a:r>
            <a:endParaRPr lang="en-US" sz="1400" dirty="0"/>
          </a:p>
        </p:txBody>
      </p:sp>
      <p:sp>
        <p:nvSpPr>
          <p:cNvPr id="6" name="stat-Partial"/>
          <p:cNvSpPr/>
          <p:nvPr/>
        </p:nvSpPr>
        <p:spPr>
          <a:xfrm>
            <a:off x="457200" y="256032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7" name="stat-Partial-n"/>
          <p:cNvSpPr txBox="1"/>
          <p:nvPr/>
        </p:nvSpPr>
        <p:spPr>
          <a:xfrm>
            <a:off x="457200" y="26334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5A00"/>
                </a:solidFill>
              </a:rPr>
              <a:t>5</a:t>
            </a:r>
            <a:endParaRPr lang="en-US" sz="4000" dirty="0"/>
          </a:p>
        </p:txBody>
      </p:sp>
      <p:sp>
        <p:nvSpPr>
          <p:cNvPr id="8" name="stat-Partial-label"/>
          <p:cNvSpPr txBox="1"/>
          <p:nvPr/>
        </p:nvSpPr>
        <p:spPr>
          <a:xfrm>
            <a:off x="457200" y="3273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5A00"/>
                </a:solidFill>
              </a:rPr>
              <a:t>Partial</a:t>
            </a:r>
            <a:endParaRPr lang="en-US" sz="1400" dirty="0"/>
          </a:p>
        </p:txBody>
      </p:sp>
      <p:sp>
        <p:nvSpPr>
          <p:cNvPr id="9" name="stat-Not met"/>
          <p:cNvSpPr/>
          <p:nvPr/>
        </p:nvSpPr>
        <p:spPr>
          <a:xfrm>
            <a:off x="457200" y="388620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DE2E1"/>
          </a:solidFill>
          <a:ln w="12700">
            <a:solidFill>
              <a:srgbClr val="FDE2E1"/>
            </a:solidFill>
            <a:prstDash val="solid"/>
          </a:ln>
        </p:spPr>
      </p:sp>
      <p:sp>
        <p:nvSpPr>
          <p:cNvPr id="10" name="stat-Not met-n"/>
          <p:cNvSpPr txBox="1"/>
          <p:nvPr/>
        </p:nvSpPr>
        <p:spPr>
          <a:xfrm>
            <a:off x="457200" y="3959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12A24"/>
                </a:solidFill>
              </a:rPr>
              <a:t>2</a:t>
            </a:r>
            <a:endParaRPr lang="en-US" sz="4000" dirty="0"/>
          </a:p>
        </p:txBody>
      </p:sp>
      <p:sp>
        <p:nvSpPr>
          <p:cNvPr id="11" name="stat-Not met-label"/>
          <p:cNvSpPr txBox="1"/>
          <p:nvPr/>
        </p:nvSpPr>
        <p:spPr>
          <a:xfrm>
            <a:off x="457200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A24"/>
                </a:solidFill>
              </a:rPr>
              <a:t>Not met</a:t>
            </a:r>
            <a:endParaRPr lang="en-US" sz="1400" dirty="0"/>
          </a:p>
        </p:txBody>
      </p:sp>
      <p:sp>
        <p:nvSpPr>
          <p:cNvPr id="12" name="source-note"/>
          <p:cNvSpPr txBox="1"/>
          <p:nvPr/>
        </p:nvSpPr>
        <p:spPr>
          <a:xfrm>
            <a:off x="457200" y="5257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Criteria: course guidelines. Status as of 30 Oct 2026; real-run figures from the local run registry.</a:t>
            </a:r>
            <a:endParaRPr lang="en-US" sz="1000" dirty="0"/>
          </a:p>
        </p:txBody>
      </p:sp>
      <p:graphicFrame>
        <p:nvGraphicFramePr>
          <p:cNvPr id="2" name="coverag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1234440"/>
          <a:ext cx="9034272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914400"/>
                <a:gridCol w="4507992"/>
              </a:tblGrid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till now / next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app that modifies, runs and tests software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edit files; pytest runs in a sandbox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orchestration with specialised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specialists + Manager, typed hand-offs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agent; Manager work packages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defined per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tools, least-privilege policy per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Frameworks: CrewAI and ADK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specialists; Google ADK Verifier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and A2A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MCP servers; Verifier served over A2A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Architectures: sequential, hierarchical, event-driven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+ blackboard on one shared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strategies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Direct, broadcast events, blackboard, MCP vs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coding and debugging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→ debug → re-test, max 3 iterations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G1–G10 recorded; Docker sandbox not yet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and per-run traces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6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 spans, per-agent metrics,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Differentiated prompting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prompt variants built; not yet run on a real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Run-level shared state; no long-term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comparison on the same 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graded real runs on 1 task; need 10 tasks × 4 ×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40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real (14 graded) + 127 mock; need 40+ graded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of 50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validated tasks with hidden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for repository understanding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built; literal code search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choice per agent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 serves all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VEXA Coverage">
  <a:themeElements>
    <a:clrScheme name="VEXA Coverage">
      <a:dk1>
        <a:srgbClr val="1F2A37"/>
      </a:dk1>
      <a:lt1>
        <a:srgbClr val="FFFFFF"/>
      </a:lt1>
      <a:dk2>
        <a:srgbClr val="334155"/>
      </a:dk2>
      <a:lt2>
        <a:srgbClr val="F1F5F9"/>
      </a:lt2>
      <a:accent1>
        <a:srgbClr val="0F766E"/>
      </a:accent1>
      <a:accent2>
        <a:srgbClr val="1E6B3F"/>
      </a:accent2>
      <a:accent3>
        <a:srgbClr val="8A5A00"/>
      </a:accent3>
      <a:accent4>
        <a:srgbClr val="A12A24"/>
      </a:accent4>
      <a:accent5>
        <a:srgbClr val="64748B"/>
      </a:accent5>
      <a:accent6>
        <a:srgbClr val="0E7490"/>
      </a:accent6>
      <a:hlink>
        <a:srgbClr val="0F766E"/>
      </a:hlink>
      <a:folHlink>
        <a:srgbClr val="64748B"/>
      </a:folHlink>
    </a:clrScheme>
    <a:fontScheme name="VEXA Cover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VEXA — Coverage of Project till Now vs Criteria</dc:title>
  <dc:subject>PptxGenJS Presentation</dc:subject>
  <dc:creator>PptxGenJS</dc:creator>
  <cp:lastModifiedBy>PptxGenJS</cp:lastModifiedBy>
  <cp:revision>1</cp:revision>
  <dcterms:created xsi:type="dcterms:W3CDTF">2026-10-30T03:23:37Z</dcterms:created>
  <dcterms:modified xsi:type="dcterms:W3CDTF">2026-10-30T03:23:37Z</dcterms:modified>
</cp:coreProperties>
</file>